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94700"/>
  </p:normalViewPr>
  <p:slideViewPr>
    <p:cSldViewPr snapToGrid="0">
      <p:cViewPr varScale="1">
        <p:scale>
          <a:sx n="95" d="100"/>
          <a:sy n="95" d="100"/>
        </p:scale>
        <p:origin x="200"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1/13/26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1/13/26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1/13/26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3BFBB-9F86-D0E3-6F12-79D93D2CBE72}"/>
              </a:ext>
            </a:extLst>
          </p:cNvPr>
          <p:cNvSpPr>
            <a:spLocks noGrp="1"/>
          </p:cNvSpPr>
          <p:nvPr>
            <p:ph type="ctrTitle"/>
          </p:nvPr>
        </p:nvSpPr>
        <p:spPr/>
        <p:txBody>
          <a:bodyPr/>
          <a:lstStyle/>
          <a:p>
            <a:r>
              <a:rPr lang="en-US" dirty="0"/>
              <a:t>Project 0 – Heart beat LED</a:t>
            </a:r>
          </a:p>
        </p:txBody>
      </p:sp>
      <p:sp>
        <p:nvSpPr>
          <p:cNvPr id="3" name="Subtitle 2">
            <a:extLst>
              <a:ext uri="{FF2B5EF4-FFF2-40B4-BE49-F238E27FC236}">
                <a16:creationId xmlns:a16="http://schemas.microsoft.com/office/drawing/2014/main" id="{A95DB86E-C731-B37E-FE1F-4F1BCC3840B7}"/>
              </a:ext>
            </a:extLst>
          </p:cNvPr>
          <p:cNvSpPr>
            <a:spLocks noGrp="1"/>
          </p:cNvSpPr>
          <p:nvPr>
            <p:ph type="subTitle" idx="1"/>
          </p:nvPr>
        </p:nvSpPr>
        <p:spPr/>
        <p:txBody>
          <a:bodyPr/>
          <a:lstStyle/>
          <a:p>
            <a:r>
              <a:rPr lang="en-US" dirty="0"/>
              <a:t>Ryan Adolph</a:t>
            </a:r>
          </a:p>
        </p:txBody>
      </p:sp>
    </p:spTree>
    <p:extLst>
      <p:ext uri="{BB962C8B-B14F-4D97-AF65-F5344CB8AC3E}">
        <p14:creationId xmlns:p14="http://schemas.microsoft.com/office/powerpoint/2010/main" val="3614834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87AD-CBE8-7F2F-F4C2-2AB57B98A583}"/>
              </a:ext>
            </a:extLst>
          </p:cNvPr>
          <p:cNvSpPr>
            <a:spLocks noGrp="1"/>
          </p:cNvSpPr>
          <p:nvPr>
            <p:ph type="title"/>
          </p:nvPr>
        </p:nvSpPr>
        <p:spPr/>
        <p:txBody>
          <a:bodyPr/>
          <a:lstStyle/>
          <a:p>
            <a:r>
              <a:rPr lang="en-US" dirty="0"/>
              <a:t>Project Goal </a:t>
            </a:r>
          </a:p>
        </p:txBody>
      </p:sp>
      <p:sp>
        <p:nvSpPr>
          <p:cNvPr id="3" name="Content Placeholder 2">
            <a:extLst>
              <a:ext uri="{FF2B5EF4-FFF2-40B4-BE49-F238E27FC236}">
                <a16:creationId xmlns:a16="http://schemas.microsoft.com/office/drawing/2014/main" id="{85565B83-8067-BB7D-0A74-11E55FEA3723}"/>
              </a:ext>
            </a:extLst>
          </p:cNvPr>
          <p:cNvSpPr>
            <a:spLocks noGrp="1"/>
          </p:cNvSpPr>
          <p:nvPr>
            <p:ph idx="1"/>
          </p:nvPr>
        </p:nvSpPr>
        <p:spPr/>
        <p:txBody>
          <a:bodyPr/>
          <a:lstStyle/>
          <a:p>
            <a:r>
              <a:rPr lang="en-US" dirty="0"/>
              <a:t>The goal of this project is to refresh our knowledge of how assembly works on the MSP430FR2355 dev board by toggling 2 </a:t>
            </a:r>
            <a:r>
              <a:rPr lang="en-US" dirty="0" err="1"/>
              <a:t>seperate</a:t>
            </a:r>
            <a:r>
              <a:rPr lang="en-US" dirty="0"/>
              <a:t> LEDs (P1.0 - red &amp; P6.6 – green) every one second by using a delay loop and a one second interrupt service routine (ISR)</a:t>
            </a:r>
          </a:p>
          <a:p>
            <a:endParaRPr lang="en-US" dirty="0"/>
          </a:p>
          <a:p>
            <a:endParaRPr lang="en-US" dirty="0"/>
          </a:p>
        </p:txBody>
      </p:sp>
    </p:spTree>
    <p:extLst>
      <p:ext uri="{BB962C8B-B14F-4D97-AF65-F5344CB8AC3E}">
        <p14:creationId xmlns:p14="http://schemas.microsoft.com/office/powerpoint/2010/main" val="2449908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E2804-4FDD-7022-51A9-75238DCFD679}"/>
              </a:ext>
            </a:extLst>
          </p:cNvPr>
          <p:cNvSpPr>
            <a:spLocks noGrp="1"/>
          </p:cNvSpPr>
          <p:nvPr>
            <p:ph type="title"/>
          </p:nvPr>
        </p:nvSpPr>
        <p:spPr/>
        <p:txBody>
          <a:bodyPr/>
          <a:lstStyle/>
          <a:p>
            <a:r>
              <a:rPr lang="en-US" dirty="0"/>
              <a:t>Delay loop </a:t>
            </a:r>
          </a:p>
        </p:txBody>
      </p:sp>
      <p:sp>
        <p:nvSpPr>
          <p:cNvPr id="3" name="Content Placeholder 2">
            <a:extLst>
              <a:ext uri="{FF2B5EF4-FFF2-40B4-BE49-F238E27FC236}">
                <a16:creationId xmlns:a16="http://schemas.microsoft.com/office/drawing/2014/main" id="{0478D431-6BAE-5B8D-C42E-BEE2231AB8A8}"/>
              </a:ext>
            </a:extLst>
          </p:cNvPr>
          <p:cNvSpPr>
            <a:spLocks noGrp="1"/>
          </p:cNvSpPr>
          <p:nvPr>
            <p:ph idx="1"/>
          </p:nvPr>
        </p:nvSpPr>
        <p:spPr/>
        <p:txBody>
          <a:bodyPr/>
          <a:lstStyle/>
          <a:p>
            <a:r>
              <a:rPr lang="en-US" dirty="0"/>
              <a:t>The delay loop uses a nested loop to decrement 2 set registers (R14 &amp; R15). We initialize our first register, R15, to 22500 then our second register, R14 to 7. We then jump to another subroutine where we decrement R14, jump to another subroutine where we decrement R15 and check if R14 == 0. If no, then keep decrementing R15 until it == 0 then reset R15 to 24000 and decrement R14 again. Repeat until R14 == 0, then toggle our red LED (P1.0)</a:t>
            </a:r>
          </a:p>
          <a:p>
            <a:endParaRPr lang="en-US" dirty="0"/>
          </a:p>
        </p:txBody>
      </p:sp>
    </p:spTree>
    <p:extLst>
      <p:ext uri="{BB962C8B-B14F-4D97-AF65-F5344CB8AC3E}">
        <p14:creationId xmlns:p14="http://schemas.microsoft.com/office/powerpoint/2010/main" val="1290165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8611B-BDE1-DF29-0D3A-3214533D7564}"/>
              </a:ext>
            </a:extLst>
          </p:cNvPr>
          <p:cNvSpPr>
            <a:spLocks noGrp="1"/>
          </p:cNvSpPr>
          <p:nvPr>
            <p:ph type="title"/>
          </p:nvPr>
        </p:nvSpPr>
        <p:spPr>
          <a:xfrm>
            <a:off x="5356141" y="753587"/>
            <a:ext cx="6250007" cy="1212118"/>
          </a:xfrm>
        </p:spPr>
        <p:txBody>
          <a:bodyPr/>
          <a:lstStyle/>
          <a:p>
            <a:r>
              <a:rPr lang="en-US" dirty="0"/>
              <a:t>Delay loop flowchart</a:t>
            </a:r>
          </a:p>
        </p:txBody>
      </p:sp>
      <p:pic>
        <p:nvPicPr>
          <p:cNvPr id="7" name="Picture 6">
            <a:extLst>
              <a:ext uri="{FF2B5EF4-FFF2-40B4-BE49-F238E27FC236}">
                <a16:creationId xmlns:a16="http://schemas.microsoft.com/office/drawing/2014/main" id="{1CB696F4-B90E-C65B-67BF-D8AFD8B4EBB0}"/>
              </a:ext>
            </a:extLst>
          </p:cNvPr>
          <p:cNvPicPr>
            <a:picLocks noChangeAspect="1"/>
          </p:cNvPicPr>
          <p:nvPr/>
        </p:nvPicPr>
        <p:blipFill>
          <a:blip r:embed="rId2"/>
          <a:stretch>
            <a:fillRect/>
          </a:stretch>
        </p:blipFill>
        <p:spPr>
          <a:xfrm>
            <a:off x="699245" y="54340"/>
            <a:ext cx="3711389" cy="6714380"/>
          </a:xfrm>
          <a:prstGeom prst="rect">
            <a:avLst/>
          </a:prstGeom>
        </p:spPr>
      </p:pic>
      <p:pic>
        <p:nvPicPr>
          <p:cNvPr id="11" name="Content Placeholder 10" descr="A screenshot of a computer&#10;&#10;AI-generated content may be incorrect.">
            <a:extLst>
              <a:ext uri="{FF2B5EF4-FFF2-40B4-BE49-F238E27FC236}">
                <a16:creationId xmlns:a16="http://schemas.microsoft.com/office/drawing/2014/main" id="{3BCA5FEB-306B-841A-FEA4-73DC3C0329CE}"/>
              </a:ext>
            </a:extLst>
          </p:cNvPr>
          <p:cNvPicPr>
            <a:picLocks noGrp="1" noChangeAspect="1"/>
          </p:cNvPicPr>
          <p:nvPr>
            <p:ph idx="1"/>
          </p:nvPr>
        </p:nvPicPr>
        <p:blipFill>
          <a:blip r:embed="rId3"/>
          <a:stretch>
            <a:fillRect/>
          </a:stretch>
        </p:blipFill>
        <p:spPr>
          <a:xfrm>
            <a:off x="4460875" y="2547879"/>
            <a:ext cx="7731125" cy="1762241"/>
          </a:xfrm>
        </p:spPr>
      </p:pic>
      <p:sp>
        <p:nvSpPr>
          <p:cNvPr id="12" name="TextBox 11">
            <a:extLst>
              <a:ext uri="{FF2B5EF4-FFF2-40B4-BE49-F238E27FC236}">
                <a16:creationId xmlns:a16="http://schemas.microsoft.com/office/drawing/2014/main" id="{C676E831-09A0-5273-BD21-10FF228D0FC9}"/>
              </a:ext>
            </a:extLst>
          </p:cNvPr>
          <p:cNvSpPr txBox="1"/>
          <p:nvPr/>
        </p:nvSpPr>
        <p:spPr>
          <a:xfrm>
            <a:off x="5513294" y="4652682"/>
            <a:ext cx="4733365" cy="646331"/>
          </a:xfrm>
          <a:prstGeom prst="rect">
            <a:avLst/>
          </a:prstGeom>
          <a:noFill/>
        </p:spPr>
        <p:txBody>
          <a:bodyPr wrap="square" rtlCol="0">
            <a:spAutoFit/>
          </a:bodyPr>
          <a:lstStyle/>
          <a:p>
            <a:r>
              <a:rPr lang="en-US" dirty="0"/>
              <a:t>Delay loop comes out to a pulse of ~1.003 for being on / off</a:t>
            </a:r>
          </a:p>
        </p:txBody>
      </p:sp>
    </p:spTree>
    <p:extLst>
      <p:ext uri="{BB962C8B-B14F-4D97-AF65-F5344CB8AC3E}">
        <p14:creationId xmlns:p14="http://schemas.microsoft.com/office/powerpoint/2010/main" val="790611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09DD-5373-90B4-9950-A9F711AA20C0}"/>
              </a:ext>
            </a:extLst>
          </p:cNvPr>
          <p:cNvSpPr>
            <a:spLocks noGrp="1"/>
          </p:cNvSpPr>
          <p:nvPr>
            <p:ph type="title"/>
          </p:nvPr>
        </p:nvSpPr>
        <p:spPr/>
        <p:txBody>
          <a:bodyPr/>
          <a:lstStyle/>
          <a:p>
            <a:r>
              <a:rPr lang="en-US" dirty="0"/>
              <a:t>Interrupt service routine</a:t>
            </a:r>
          </a:p>
        </p:txBody>
      </p:sp>
      <p:sp>
        <p:nvSpPr>
          <p:cNvPr id="3" name="Content Placeholder 2">
            <a:extLst>
              <a:ext uri="{FF2B5EF4-FFF2-40B4-BE49-F238E27FC236}">
                <a16:creationId xmlns:a16="http://schemas.microsoft.com/office/drawing/2014/main" id="{04AAAA00-2402-2DF0-6916-924CCB0995A0}"/>
              </a:ext>
            </a:extLst>
          </p:cNvPr>
          <p:cNvSpPr>
            <a:spLocks noGrp="1"/>
          </p:cNvSpPr>
          <p:nvPr>
            <p:ph idx="1"/>
          </p:nvPr>
        </p:nvSpPr>
        <p:spPr/>
        <p:txBody>
          <a:bodyPr>
            <a:normAutofit/>
          </a:bodyPr>
          <a:lstStyle/>
          <a:p>
            <a:r>
              <a:rPr lang="en-US" dirty="0"/>
              <a:t>We initialize timer_B0 for using continuous counting using ACLK as the timer source,  using the dividers for CNTL__12 and ID__8 into TB0CTL, then enable the overflow interrupt flag on the timer_B0 register. We also have our pin P6.6 (green LED) initialized as output in order to flash it at a .5 </a:t>
            </a:r>
            <a:r>
              <a:rPr lang="en-US" dirty="0" err="1"/>
              <a:t>hz</a:t>
            </a:r>
            <a:r>
              <a:rPr lang="en-US" dirty="0"/>
              <a:t> or 1 second interval.</a:t>
            </a:r>
          </a:p>
          <a:p>
            <a:r>
              <a:rPr lang="en-US" dirty="0"/>
              <a:t>Math for interrupt </a:t>
            </a:r>
          </a:p>
          <a:p>
            <a:pPr>
              <a:lnSpc>
                <a:spcPts val="1500"/>
              </a:lnSpc>
            </a:pPr>
            <a:r>
              <a:rPr lang="en-US" b="0" dirty="0">
                <a:solidFill>
                  <a:srgbClr val="6A9955"/>
                </a:solidFill>
                <a:effectLst/>
                <a:latin typeface="Menlo" panose="020B0609030804020204" pitchFamily="49" charset="0"/>
              </a:rPr>
              <a:t> F = 32.768 / 8 = 4.096</a:t>
            </a:r>
            <a:endParaRPr lang="en-US" b="0" dirty="0">
              <a:solidFill>
                <a:srgbClr val="D4D4D4"/>
              </a:solidFill>
              <a:effectLst/>
              <a:latin typeface="Menlo" panose="020B0609030804020204" pitchFamily="49" charset="0"/>
            </a:endParaRPr>
          </a:p>
          <a:p>
            <a:pPr>
              <a:lnSpc>
                <a:spcPts val="1500"/>
              </a:lnSpc>
            </a:pPr>
            <a:r>
              <a:rPr lang="en-US" dirty="0">
                <a:solidFill>
                  <a:srgbClr val="6A9955"/>
                </a:solidFill>
                <a:latin typeface="Menlo" panose="020B0609030804020204" pitchFamily="49" charset="0"/>
              </a:rPr>
              <a:t> </a:t>
            </a:r>
            <a:r>
              <a:rPr lang="en-US" b="0" dirty="0">
                <a:solidFill>
                  <a:srgbClr val="6A9955"/>
                </a:solidFill>
                <a:effectLst/>
                <a:latin typeface="Menlo" panose="020B0609030804020204" pitchFamily="49" charset="0"/>
              </a:rPr>
              <a:t>T = (1 / 4.096) * 2^12 = 1.000</a:t>
            </a:r>
            <a:endParaRPr lang="en-US"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68914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E7DA-5CAF-ABD8-3135-DD0DB51D6929}"/>
              </a:ext>
            </a:extLst>
          </p:cNvPr>
          <p:cNvSpPr>
            <a:spLocks noGrp="1"/>
          </p:cNvSpPr>
          <p:nvPr>
            <p:ph type="title"/>
          </p:nvPr>
        </p:nvSpPr>
        <p:spPr>
          <a:xfrm>
            <a:off x="179133" y="738565"/>
            <a:ext cx="5629996" cy="1188720"/>
          </a:xfrm>
        </p:spPr>
        <p:txBody>
          <a:bodyPr/>
          <a:lstStyle/>
          <a:p>
            <a:r>
              <a:rPr lang="en-US" dirty="0"/>
              <a:t>ISR flowchart</a:t>
            </a:r>
          </a:p>
        </p:txBody>
      </p:sp>
      <p:pic>
        <p:nvPicPr>
          <p:cNvPr id="7" name="Picture 6">
            <a:extLst>
              <a:ext uri="{FF2B5EF4-FFF2-40B4-BE49-F238E27FC236}">
                <a16:creationId xmlns:a16="http://schemas.microsoft.com/office/drawing/2014/main" id="{CD5CD2E5-4E9C-5438-064D-C7790DAF0A23}"/>
              </a:ext>
            </a:extLst>
          </p:cNvPr>
          <p:cNvPicPr>
            <a:picLocks noChangeAspect="1"/>
          </p:cNvPicPr>
          <p:nvPr/>
        </p:nvPicPr>
        <p:blipFill>
          <a:blip r:embed="rId2"/>
          <a:stretch>
            <a:fillRect/>
          </a:stretch>
        </p:blipFill>
        <p:spPr>
          <a:xfrm>
            <a:off x="6714805" y="0"/>
            <a:ext cx="5477195" cy="6858000"/>
          </a:xfrm>
          <a:prstGeom prst="rect">
            <a:avLst/>
          </a:prstGeom>
        </p:spPr>
      </p:pic>
      <p:pic>
        <p:nvPicPr>
          <p:cNvPr id="11" name="Content Placeholder 10" descr="A screenshot of a computer&#10;&#10;AI-generated content may be incorrect.">
            <a:extLst>
              <a:ext uri="{FF2B5EF4-FFF2-40B4-BE49-F238E27FC236}">
                <a16:creationId xmlns:a16="http://schemas.microsoft.com/office/drawing/2014/main" id="{F893397B-B9B7-1392-E001-4E861C1D1C04}"/>
              </a:ext>
            </a:extLst>
          </p:cNvPr>
          <p:cNvPicPr>
            <a:picLocks noGrp="1" noChangeAspect="1"/>
          </p:cNvPicPr>
          <p:nvPr>
            <p:ph idx="1"/>
          </p:nvPr>
        </p:nvPicPr>
        <p:blipFill>
          <a:blip r:embed="rId3"/>
          <a:stretch>
            <a:fillRect/>
          </a:stretch>
        </p:blipFill>
        <p:spPr>
          <a:xfrm>
            <a:off x="0" y="3041570"/>
            <a:ext cx="7731125" cy="1889146"/>
          </a:xfrm>
        </p:spPr>
      </p:pic>
      <p:sp>
        <p:nvSpPr>
          <p:cNvPr id="12" name="TextBox 11">
            <a:extLst>
              <a:ext uri="{FF2B5EF4-FFF2-40B4-BE49-F238E27FC236}">
                <a16:creationId xmlns:a16="http://schemas.microsoft.com/office/drawing/2014/main" id="{CBEE8622-B7FD-FC0B-7D1E-C0AC8A18AC04}"/>
              </a:ext>
            </a:extLst>
          </p:cNvPr>
          <p:cNvSpPr txBox="1"/>
          <p:nvPr/>
        </p:nvSpPr>
        <p:spPr>
          <a:xfrm>
            <a:off x="179133" y="5284694"/>
            <a:ext cx="6140985" cy="369332"/>
          </a:xfrm>
          <a:prstGeom prst="rect">
            <a:avLst/>
          </a:prstGeom>
          <a:noFill/>
        </p:spPr>
        <p:txBody>
          <a:bodyPr wrap="square" rtlCol="0">
            <a:spAutoFit/>
          </a:bodyPr>
          <a:lstStyle/>
          <a:p>
            <a:r>
              <a:rPr lang="en-US" dirty="0"/>
              <a:t>ISR timing comes to a pulse of 998.7 </a:t>
            </a:r>
            <a:r>
              <a:rPr lang="en-US" dirty="0" err="1"/>
              <a:t>ms</a:t>
            </a:r>
            <a:r>
              <a:rPr lang="en-US" dirty="0"/>
              <a:t> for LED being on / off </a:t>
            </a:r>
          </a:p>
        </p:txBody>
      </p:sp>
    </p:spTree>
    <p:extLst>
      <p:ext uri="{BB962C8B-B14F-4D97-AF65-F5344CB8AC3E}">
        <p14:creationId xmlns:p14="http://schemas.microsoft.com/office/powerpoint/2010/main" val="15995478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90</TotalTime>
  <Words>292</Words>
  <Application>Microsoft Macintosh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Gill Sans MT</vt:lpstr>
      <vt:lpstr>Menlo</vt:lpstr>
      <vt:lpstr>Parcel</vt:lpstr>
      <vt:lpstr>Project 0 – Heart beat LED</vt:lpstr>
      <vt:lpstr>Project Goal </vt:lpstr>
      <vt:lpstr>Delay loop </vt:lpstr>
      <vt:lpstr>Delay loop flowchart</vt:lpstr>
      <vt:lpstr>Interrupt service routine</vt:lpstr>
      <vt:lpstr>ISR flowchart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Adolph, Ryan</dc:creator>
  <cp:lastModifiedBy>Adolph, Ryan</cp:lastModifiedBy>
  <cp:revision>5</cp:revision>
  <dcterms:created xsi:type="dcterms:W3CDTF">2026-01-13T17:19:05Z</dcterms:created>
  <dcterms:modified xsi:type="dcterms:W3CDTF">2026-01-13T18:49:44Z</dcterms:modified>
</cp:coreProperties>
</file>